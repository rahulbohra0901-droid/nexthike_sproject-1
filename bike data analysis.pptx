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36576" cy="2011680"/>
          </a:xfrm>
          <a:prstGeom prst="rect">
            <a:avLst/>
          </a:prstGeom>
          <a:solidFill>
            <a:srgbClr val="6B7F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BIKE SHARING DEMAND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6B7F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ANALYSIS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Chart-Heavy Visual Analysis | 58,304 Total Rentals | 1,000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58,304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53,383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574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2356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2356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0664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0664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Performance Metrics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965960" cy="1737360"/>
          </a:xfrm>
          <a:prstGeom prst="rect">
            <a:avLst>
              <a:gd name="adj" fmla="val 2632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dataset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868680"/>
            <a:ext cx="1965960" cy="1737360"/>
          </a:xfrm>
          <a:prstGeom prst="rect">
            <a:avLst>
              <a:gd name="adj" fmla="val 2632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143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53,383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20574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 of total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1965960" cy="1737360"/>
          </a:xfrm>
          <a:prstGeom prst="rect">
            <a:avLst>
              <a:gd name="adj" fmla="val 2632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1691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 of total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868680"/>
            <a:ext cx="1965960" cy="1737360"/>
          </a:xfrm>
          <a:prstGeom prst="rect">
            <a:avLst>
              <a:gd name="adj" fmla="val 2632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1430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1691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20574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6,169 rentals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1965960" cy="1737360"/>
          </a:xfrm>
          <a:prstGeom prst="rect">
            <a:avLst>
              <a:gd name="adj" fmla="val 2632"/>
            </a:avLst>
          </a:prstGeom>
          <a:solidFill>
            <a:srgbClr val="2C3E5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54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7200" y="3703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Rentals/Record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hourly record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06040" y="2880360"/>
            <a:ext cx="1965960" cy="1737360"/>
          </a:xfrm>
          <a:prstGeom prst="rect">
            <a:avLst>
              <a:gd name="adj" fmla="val 2632"/>
            </a:avLst>
          </a:prstGeom>
          <a:solidFill>
            <a:srgbClr val="2C3E5A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3154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606040" y="3703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Hourly Rentals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4069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hour peak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1965960" cy="1737360"/>
          </a:xfrm>
          <a:prstGeom prst="rect">
            <a:avLst>
              <a:gd name="adj" fmla="val 2632"/>
            </a:avLst>
          </a:prstGeom>
          <a:solidFill>
            <a:srgbClr val="2C3E5A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154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976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754880" y="3703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4069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97.6% of records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2880360"/>
            <a:ext cx="1965960" cy="1737360"/>
          </a:xfrm>
          <a:prstGeom prst="rect">
            <a:avLst>
              <a:gd name="adj" fmla="val 2632"/>
            </a:avLst>
          </a:prstGeom>
          <a:solidFill>
            <a:srgbClr val="2C3E5A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3154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903720" y="3703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4069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 of records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 vs Total Rentals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17:00 with 6,169 rentals | Secondary peak at 08:00 with 5,388</a:t>
            </a:r>
            <a:endParaRPr lang="en-US" sz="1100" dirty="0"/>
          </a:p>
        </p:txBody>
      </p:sp>
      <p:pic>
        <p:nvPicPr>
          <p:cNvPr id="4" name="Image 0" descr="chart_hourly_to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Hourly Rentals: Casual vs Registered Users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peak at commute hours | Casual users peak mid-afternoon</a:t>
            </a:r>
            <a:endParaRPr lang="en-US" sz="1100" dirty="0"/>
          </a:p>
        </p:txBody>
      </p:sp>
      <p:pic>
        <p:nvPicPr>
          <p:cNvPr id="4" name="Image 0" descr="chart_hourly_casual_r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Rentals by Weather Condition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weather drives 64.1% of all rentals | Severe weather nearly eliminates demand</a:t>
            </a:r>
            <a:endParaRPr lang="en-US" sz="1100" dirty="0"/>
          </a:p>
        </p:txBody>
      </p:sp>
      <p:pic>
        <p:nvPicPr>
          <p:cNvPr id="4" name="Image 0" descr="chart_w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 Speed Category vs Rentals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wind optimal (41.7%) | Strong wind reduces demand by 88%</a:t>
            </a:r>
            <a:endParaRPr lang="en-US" sz="1100" dirty="0"/>
          </a:p>
        </p:txBody>
      </p:sp>
      <p:pic>
        <p:nvPicPr>
          <p:cNvPr id="4" name="Image 0" descr="chart_w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Humidity Category vs Rentals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humidity drives 50.2% of rentals | Low humidity = minimal activity</a:t>
            </a:r>
            <a:endParaRPr lang="en-US" sz="1100" dirty="0"/>
          </a:p>
        </p:txBody>
      </p:sp>
      <p:pic>
        <p:nvPicPr>
          <p:cNvPr id="4" name="Image 0" descr="chart_humid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Rentals by Temperature Category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temperatures show highest volume (52.7%) | High temps nearly eliminate demand</a:t>
            </a:r>
            <a:endParaRPr lang="en-US" sz="1100" dirty="0"/>
          </a:p>
        </p:txBody>
      </p:sp>
      <p:pic>
        <p:nvPicPr>
          <p:cNvPr id="4" name="Image 0" descr="chart_temper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Casual vs Registered Users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1: 38,189 total | Month 2: 20,115 total | -47.3% decline</a:t>
            </a:r>
            <a:endParaRPr lang="en-US" sz="1100" dirty="0"/>
          </a:p>
        </p:txBody>
      </p:sp>
      <p:pic>
        <p:nvPicPr>
          <p:cNvPr id="4" name="Image 0" descr="chart_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Rentals by Day of Week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is busiest (9,095) | Sunday has lowest demand (7,748)</a:t>
            </a:r>
            <a:endParaRPr lang="en-US" sz="1100" dirty="0"/>
          </a:p>
        </p:txBody>
      </p:sp>
      <p:pic>
        <p:nvPicPr>
          <p:cNvPr id="4" name="Image 0" descr="chart_dayofwe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Rentals by Session of Day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dominates with 40.0% | Night accounts for only 3.2%</a:t>
            </a:r>
            <a:endParaRPr lang="en-US" sz="1100" dirty="0"/>
          </a:p>
        </p:txBody>
      </p:sp>
      <p:pic>
        <p:nvPicPr>
          <p:cNvPr id="4" name="Image 0" descr="chart_s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7680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Rental Demand Category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demand: 706 records (70.6%) | Very High: only 4 records (0.4%)</a:t>
            </a:r>
            <a:endParaRPr lang="en-US" sz="1100" dirty="0"/>
          </a:p>
        </p:txBody>
      </p:sp>
      <p:pic>
        <p:nvPicPr>
          <p:cNvPr id="4" name="Image 0" descr="chart_dem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7680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Rental Trend (Jan 1 - Feb 14, 2011)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days of data | Peak: 1,985 (Day 25) | Low: 151 (Day 45)</a:t>
            </a:r>
            <a:endParaRPr lang="en-US" sz="1100" dirty="0"/>
          </a:p>
        </p:txBody>
      </p:sp>
      <p:pic>
        <p:nvPicPr>
          <p:cNvPr id="4" name="Image 0" descr="chart_dai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of Week: Casual vs Registered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peaks on Monday (1,477) | Registered peaks on Saturday (8,543)</a:t>
            </a:r>
            <a:endParaRPr lang="en-US" sz="1100" dirty="0"/>
          </a:p>
        </p:txBody>
      </p:sp>
      <p:pic>
        <p:nvPicPr>
          <p:cNvPr id="4" name="Image 0" descr="chart_dow_casual_r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87782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Insights</a:t>
            </a:r>
            <a:endParaRPr lang="en-US" sz="2400" dirty="0"/>
          </a:p>
        </p:txBody>
      </p:sp>
      <p:pic>
        <p:nvPicPr>
          <p:cNvPr id="3" name="Image 0" descr="chart_user_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3840480" cy="2194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206240" y="914400"/>
            <a:ext cx="365760" cy="502920"/>
          </a:xfrm>
          <a:prstGeom prst="rect">
            <a:avLst>
              <a:gd name="adj" fmla="val 7500"/>
            </a:avLst>
          </a:prstGeom>
          <a:solidFill>
            <a:srgbClr val="2C3E5A"/>
          </a:solidFill>
          <a:ln/>
        </p:spPr>
      </p:sp>
      <p:sp>
        <p:nvSpPr>
          <p:cNvPr id="5" name="Text 2"/>
          <p:cNvSpPr/>
          <p:nvPr/>
        </p:nvSpPr>
        <p:spPr>
          <a:xfrm>
            <a:off x="4206240" y="1005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66344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17:00 = 6,169 rentals (10.6% of total)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06240" y="1600200"/>
            <a:ext cx="365760" cy="502920"/>
          </a:xfrm>
          <a:prstGeom prst="rect">
            <a:avLst>
              <a:gd name="adj" fmla="val 7500"/>
            </a:avLst>
          </a:prstGeom>
          <a:solidFill>
            <a:srgbClr val="2C3E5A"/>
          </a:solidFill>
          <a:ln/>
        </p:spPr>
      </p:sp>
      <p:sp>
        <p:nvSpPr>
          <p:cNvPr id="8" name="Text 5"/>
          <p:cNvSpPr/>
          <p:nvPr/>
        </p:nvSpPr>
        <p:spPr>
          <a:xfrm>
            <a:off x="4206240" y="16916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6344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= 91.6% of all demand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2286000"/>
            <a:ext cx="365760" cy="502920"/>
          </a:xfrm>
          <a:prstGeom prst="rect">
            <a:avLst>
              <a:gd name="adj" fmla="val 7500"/>
            </a:avLst>
          </a:prstGeom>
          <a:solidFill>
            <a:srgbClr val="2C3E5A"/>
          </a:solidFill>
          <a:ln/>
        </p:spPr>
      </p:sp>
      <p:sp>
        <p:nvSpPr>
          <p:cNvPr id="11" name="Text 8"/>
          <p:cNvSpPr/>
          <p:nvPr/>
        </p:nvSpPr>
        <p:spPr>
          <a:xfrm>
            <a:off x="4206240" y="2377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3440" y="2331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weather drives 64.1% of rentals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06240" y="2971800"/>
            <a:ext cx="365760" cy="502920"/>
          </a:xfrm>
          <a:prstGeom prst="rect">
            <a:avLst>
              <a:gd name="adj" fmla="val 7500"/>
            </a:avLst>
          </a:prstGeom>
          <a:solidFill>
            <a:srgbClr val="2C3E5A"/>
          </a:solidFill>
          <a:ln/>
        </p:spPr>
      </p:sp>
      <p:sp>
        <p:nvSpPr>
          <p:cNvPr id="14" name="Text 11"/>
          <p:cNvSpPr/>
          <p:nvPr/>
        </p:nvSpPr>
        <p:spPr>
          <a:xfrm>
            <a:off x="4206240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is busiest day (9,095 rentals)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06240" y="3657600"/>
            <a:ext cx="365760" cy="502920"/>
          </a:xfrm>
          <a:prstGeom prst="rect">
            <a:avLst>
              <a:gd name="adj" fmla="val 7500"/>
            </a:avLst>
          </a:prstGeom>
          <a:solidFill>
            <a:srgbClr val="2C3E5A"/>
          </a:solidFill>
          <a:ln/>
        </p:spPr>
      </p:sp>
      <p:sp>
        <p:nvSpPr>
          <p:cNvPr id="17" name="Text 14"/>
          <p:cNvSpPr/>
          <p:nvPr/>
        </p:nvSpPr>
        <p:spPr>
          <a:xfrm>
            <a:off x="4206240" y="3749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63440" y="3703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session accounts for 40% of all rentals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D33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for optimized bike sharing operations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E4373F-4C17-435E-9EEE-56E135E9AA21}">
  <we:reference id="WA200010606" version="1.0.10036.0" store="en-us" storeType="OMEX"/>
  <we:alternateReferences/>
  <we:properties>
    <we:property name="Office.AutoShowTaskpaneWithDocument" value="true"/>
    <we:property name="conversationId" value="&quot;86769a19-f219-4eaf-abaa-24236694c63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2026-07-25T00:11:47Z</dcterms:created>
  <dcterms:modified xsi:type="dcterms:W3CDTF">2026-07-25T00:11:47Z</dcterms:modified>
</cp:coreProperties>
</file>